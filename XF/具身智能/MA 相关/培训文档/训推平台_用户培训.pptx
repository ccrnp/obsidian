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D3C"/>
    <a:srgbClr val="031F46"/>
    <a:srgbClr val="031833"/>
    <a:srgbClr val="031D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训推平台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kern="0" spc="200" dirty="0">
                <a:solidFill>
                  <a:srgbClr val="00C9A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用户培训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2606040"/>
            <a:ext cx="2286000" cy="36576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广东省具身智能训练场建设项目（一期）信息系统集成项目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090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 7.2.1-HCS  |  华为云Stack 8.6.0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培训目录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640080" y="11430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80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1B2D"/>
          </a:solidFill>
        </p:spPr>
      </p:sp>
      <p:sp>
        <p:nvSpPr>
          <p:cNvPr id="6" name="Text 4"/>
          <p:cNvSpPr/>
          <p:nvPr/>
        </p:nvSpPr>
        <p:spPr>
          <a:xfrm>
            <a:off x="777240" y="1280160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21945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平台简介与核心能力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947672"/>
            <a:ext cx="2194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训推平台定位、能力与价值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280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1B2D"/>
          </a:solidFill>
        </p:spPr>
      </p:sp>
      <p:sp>
        <p:nvSpPr>
          <p:cNvPr id="11" name="Text 9"/>
          <p:cNvSpPr/>
          <p:nvPr/>
        </p:nvSpPr>
        <p:spPr>
          <a:xfrm>
            <a:off x="3474720" y="1280160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645920"/>
            <a:ext cx="21945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系统架构与服务依赖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947672"/>
            <a:ext cx="2194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平台整体架构与组件关系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280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1B2D"/>
          </a:solidFill>
        </p:spPr>
      </p:sp>
      <p:sp>
        <p:nvSpPr>
          <p:cNvPr id="16" name="Text 14"/>
          <p:cNvSpPr/>
          <p:nvPr/>
        </p:nvSpPr>
        <p:spPr>
          <a:xfrm>
            <a:off x="6172200" y="1280160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645920"/>
            <a:ext cx="21945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核心功能概览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947672"/>
            <a:ext cx="2194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训练、管理、部署与AI Hub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24688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260604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1B2D"/>
          </a:solidFill>
        </p:spPr>
      </p:sp>
      <p:sp>
        <p:nvSpPr>
          <p:cNvPr id="21" name="Text 19"/>
          <p:cNvSpPr/>
          <p:nvPr/>
        </p:nvSpPr>
        <p:spPr>
          <a:xfrm>
            <a:off x="777240" y="2606040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971800"/>
            <a:ext cx="21945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权限管理与准备工作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273552"/>
            <a:ext cx="2194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委托授权、OBS配置与工作空间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24688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260604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1B2D"/>
          </a:solidFill>
        </p:spPr>
      </p:sp>
      <p:sp>
        <p:nvSpPr>
          <p:cNvPr id="26" name="Text 24"/>
          <p:cNvSpPr/>
          <p:nvPr/>
        </p:nvSpPr>
        <p:spPr>
          <a:xfrm>
            <a:off x="3474720" y="2606040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2971800"/>
            <a:ext cx="21945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模型训练流程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3273552"/>
            <a:ext cx="2194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训练流程、训练调优与高级功能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4688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60604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1B2D"/>
          </a:solidFill>
        </p:spPr>
      </p:sp>
      <p:sp>
        <p:nvSpPr>
          <p:cNvPr id="31" name="Text 29"/>
          <p:cNvSpPr/>
          <p:nvPr/>
        </p:nvSpPr>
        <p:spPr>
          <a:xfrm>
            <a:off x="6172200" y="2606040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2971800"/>
            <a:ext cx="21945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模型管理与版本控制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273552"/>
            <a:ext cx="2194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模型创建、导入与生命周期管理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379476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393192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1B2D"/>
          </a:solidFill>
        </p:spPr>
      </p:sp>
      <p:sp>
        <p:nvSpPr>
          <p:cNvPr id="36" name="Text 34"/>
          <p:cNvSpPr/>
          <p:nvPr/>
        </p:nvSpPr>
        <p:spPr>
          <a:xfrm>
            <a:off x="777240" y="3931920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" y="4297680"/>
            <a:ext cx="21945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模型部署与服务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4599432"/>
            <a:ext cx="2194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在线服务与批量服务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37560" y="379476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74720" y="393192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1B2D"/>
          </a:solidFill>
        </p:spPr>
      </p:sp>
      <p:sp>
        <p:nvSpPr>
          <p:cNvPr id="41" name="Text 39"/>
          <p:cNvSpPr/>
          <p:nvPr/>
        </p:nvSpPr>
        <p:spPr>
          <a:xfrm>
            <a:off x="3474720" y="3931920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74720" y="4297680"/>
            <a:ext cx="21945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资源管理与AI Hub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74720" y="4599432"/>
            <a:ext cx="2194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资源池、监控运维与资产共享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379476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2200" y="393192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1B2D"/>
          </a:solidFill>
        </p:spPr>
      </p:sp>
      <p:sp>
        <p:nvSpPr>
          <p:cNvPr id="46" name="Text 44"/>
          <p:cNvSpPr/>
          <p:nvPr/>
        </p:nvSpPr>
        <p:spPr>
          <a:xfrm>
            <a:off x="6172200" y="3931920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2200" y="4297680"/>
            <a:ext cx="21945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常见问题与最佳实践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72200" y="4599432"/>
            <a:ext cx="2194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高频问题排障与使用建议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平台简介与核心能力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Text 2"/>
          <p:cNvSpPr/>
          <p:nvPr/>
        </p:nvSpPr>
        <p:spPr>
          <a:xfrm>
            <a:off x="457200" y="1005840"/>
            <a:ext cx="48463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什么是训推平台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8463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训推平台是一站式AI开发平台，支持模型训练、模型管理、推理部署全周期AI工作流。平台提供异构计算资源管理，匹配从算法开发到模型上线的完整需求。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7" name="Text 5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4343400" cy="1828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全流程覆盖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4343400" cy="1828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数据准备 → 模型训练 → 模型管理 → 推理部署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1" name="Text 9"/>
          <p:cNvSpPr/>
          <p:nvPr/>
        </p:nvSpPr>
        <p:spPr>
          <a:xfrm>
            <a:off x="457200" y="2852928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4343400" cy="1828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多框架支持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035808"/>
            <a:ext cx="4343400" cy="1828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TensorFlow / PyTorch / MindSpore / PaddlePaddle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5" name="Text 13"/>
          <p:cNvSpPr/>
          <p:nvPr/>
        </p:nvSpPr>
        <p:spPr>
          <a:xfrm>
            <a:off x="457200" y="3511296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511296"/>
            <a:ext cx="4343400" cy="1828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弹性资源池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694176"/>
            <a:ext cx="4343400" cy="1828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公共池按需使用，专属池独享保障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9" name="Text 17"/>
          <p:cNvSpPr/>
          <p:nvPr/>
        </p:nvSpPr>
        <p:spPr>
          <a:xfrm>
            <a:off x="457200" y="4169664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169664"/>
            <a:ext cx="4343400" cy="1828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异构算力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352544"/>
            <a:ext cx="4343400" cy="1828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支持Ascend NPU与GPU，提供高性能AI算力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94960" y="1097280"/>
            <a:ext cx="3383280" cy="2583180"/>
          </a:xfrm>
          <a:prstGeom prst="roundRect">
            <a:avLst>
              <a:gd name="adj" fmla="val 2832"/>
            </a:avLst>
          </a:prstGeom>
          <a:solidFill>
            <a:srgbClr val="0A1628"/>
          </a:solidFill>
        </p:spPr>
      </p:sp>
      <p:pic>
        <p:nvPicPr>
          <p:cNvPr id="23" name="Image 0" descr="/data/user/work/ppt_images/image-platform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0" y="1188720"/>
            <a:ext cx="3200400" cy="24003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0" y="3634740"/>
            <a:ext cx="3200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AI开发全流程平台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矩形 25"/>
          <p:cNvSpPr/>
          <p:nvPr/>
        </p:nvSpPr>
        <p:spPr>
          <a:xfrm>
            <a:off x="8122285" y="3308985"/>
            <a:ext cx="564515" cy="280035"/>
          </a:xfrm>
          <a:prstGeom prst="rect">
            <a:avLst/>
          </a:prstGeom>
          <a:solidFill>
            <a:srgbClr val="031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系统架构与服务依赖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457200" y="105156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00C9A7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10972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161288"/>
            <a:ext cx="0" cy="347472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051560"/>
            <a:ext cx="36118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AI工程师 / 数据科学家 / 运维人员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618488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A7A8C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938528"/>
            <a:ext cx="10972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2048256"/>
            <a:ext cx="0" cy="347472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938528"/>
            <a:ext cx="36118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模型训练  |  模型管理  |  推理部署  |  AI Hub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8960" y="2505456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2825496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0F1B2D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825496"/>
            <a:ext cx="10972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平台服务层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2935224"/>
            <a:ext cx="0" cy="347472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25496"/>
            <a:ext cx="36118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资源调度  |  镜像管理  |  权限管理  |  工作空间  |  监控告警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3392424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712464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712464"/>
            <a:ext cx="10972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0" y="3822192"/>
            <a:ext cx="0" cy="347472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3712464"/>
            <a:ext cx="36118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公共资源池  |  专属资源池  |  Ascend NPU / GPU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1051560"/>
            <a:ext cx="25603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依赖服务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1463040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463040"/>
            <a:ext cx="54864" cy="41148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26" name="Text 24"/>
          <p:cNvSpPr/>
          <p:nvPr/>
        </p:nvSpPr>
        <p:spPr>
          <a:xfrm>
            <a:off x="6263640" y="1463040"/>
            <a:ext cx="10972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1463040"/>
            <a:ext cx="128016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对象存储，数据与模型存储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1965960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965960"/>
            <a:ext cx="54864" cy="41148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30" name="Text 28"/>
          <p:cNvSpPr/>
          <p:nvPr/>
        </p:nvSpPr>
        <p:spPr>
          <a:xfrm>
            <a:off x="6263640" y="1965960"/>
            <a:ext cx="10972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SWR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1965960"/>
            <a:ext cx="128016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容器镜像服务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2468880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2468880"/>
            <a:ext cx="54864" cy="41148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34" name="Text 32"/>
          <p:cNvSpPr/>
          <p:nvPr/>
        </p:nvSpPr>
        <p:spPr>
          <a:xfrm>
            <a:off x="6263640" y="2468880"/>
            <a:ext cx="10972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AOM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2468880"/>
            <a:ext cx="128016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应用运维管理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2971800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971800"/>
            <a:ext cx="54864" cy="41148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38" name="Text 36"/>
          <p:cNvSpPr/>
          <p:nvPr/>
        </p:nvSpPr>
        <p:spPr>
          <a:xfrm>
            <a:off x="6263640" y="2971800"/>
            <a:ext cx="10972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2971800"/>
            <a:ext cx="128016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云容器引擎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3474720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3474720"/>
            <a:ext cx="54864" cy="41148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42" name="Text 40"/>
          <p:cNvSpPr/>
          <p:nvPr/>
        </p:nvSpPr>
        <p:spPr>
          <a:xfrm>
            <a:off x="6263640" y="3474720"/>
            <a:ext cx="10972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3474720"/>
            <a:ext cx="128016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云日志服务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4348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E0F5F0"/>
          </a:solidFill>
        </p:spPr>
      </p:sp>
      <p:sp>
        <p:nvSpPr>
          <p:cNvPr id="45" name="Text 43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1A7A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平台支持TensorFlow、PyTorch、MindSpore等多种AI框架，提供从数据标注到模型部署的完整工具链。通过总览页面可进行算力评估，帮助选择合适的资源规格。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核心功能概览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502920" y="105156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3931920" cy="54864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7" name="Text 5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1546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模型训练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训练作业管理与断点续训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可视化指标监控与日志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内置算法与自定义镜像训练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支持VS Code远程调试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3931920" cy="54864"/>
          </a:xfrm>
          <a:prstGeom prst="rect">
            <a:avLst/>
          </a:prstGeom>
          <a:solidFill>
            <a:srgbClr val="1A7A8C"/>
          </a:solidFill>
        </p:spPr>
      </p:sp>
      <p:sp>
        <p:nvSpPr>
          <p:cNvPr id="12" name="Shape 10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3" name="Text 11"/>
          <p:cNvSpPr/>
          <p:nvPr/>
        </p:nvSpPr>
        <p:spPr>
          <a:xfrm>
            <a:off x="4846320" y="1234440"/>
            <a:ext cx="4114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234440"/>
            <a:ext cx="31546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模型管理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统一管理模型版本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从OBS导入模型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模型事件追踪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全生命周期管理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71800"/>
            <a:ext cx="3931920" cy="54864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18" name="Shape 16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0F1B2D"/>
          </a:solidFill>
        </p:spPr>
      </p:sp>
      <p:sp>
        <p:nvSpPr>
          <p:cNvPr id="19" name="Text 17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154680"/>
            <a:ext cx="31546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推理部署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657600"/>
            <a:ext cx="356616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在线服务（实时推理）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批量服务（离线推理）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自动扩缩容与灰度发布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模型预热与健康检查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3931920" cy="54864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4" name="Shape 22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5" name="Text 23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3154680"/>
            <a:ext cx="31546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Hub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657600"/>
            <a:ext cx="356616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AI资产共享社区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模型/算法发布与订阅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促进团队间资产复用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标签分类与搜索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权限管理与准备工作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Text 2"/>
          <p:cNvSpPr/>
          <p:nvPr/>
        </p:nvSpPr>
        <p:spPr>
          <a:xfrm>
            <a:off x="457200" y="960120"/>
            <a:ext cx="4846320" cy="32004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权限体系三要素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846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475488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7" name="Text 5"/>
          <p:cNvSpPr/>
          <p:nvPr/>
        </p:nvSpPr>
        <p:spPr>
          <a:xfrm>
            <a:off x="594360" y="1325880"/>
            <a:ext cx="73152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7A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38404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用户通过IAM策略获得操作权限，系统提供FullAccess、CommonOperations等预置策略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4846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92808"/>
            <a:ext cx="54864" cy="475488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11" name="Text 9"/>
          <p:cNvSpPr/>
          <p:nvPr/>
        </p:nvSpPr>
        <p:spPr>
          <a:xfrm>
            <a:off x="594360" y="1892808"/>
            <a:ext cx="73152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7A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委托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1892808"/>
            <a:ext cx="38404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训推平台代表用户访问OBS/SWR等服务，需提前配置委托授权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59736"/>
            <a:ext cx="4846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59736"/>
            <a:ext cx="54864" cy="475488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15" name="Text 13"/>
          <p:cNvSpPr/>
          <p:nvPr/>
        </p:nvSpPr>
        <p:spPr>
          <a:xfrm>
            <a:off x="594360" y="2459736"/>
            <a:ext cx="73152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7A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工作空间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459736"/>
            <a:ext cx="38404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通过工作空间实现资源逻辑隔离与细粒度访问控制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4846320" cy="32004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使用前准备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4754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通过统一运维平台，进入训推平台控制台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4754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权限管理 &gt; 添加授权，配置委托（一键自动授权）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4754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创建OBS桶用于数据存储（如 c-flowers）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4754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（可选）创建工作空间进行资源隔离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1097280"/>
            <a:ext cx="3383280" cy="2583180"/>
          </a:xfrm>
          <a:prstGeom prst="roundRect">
            <a:avLst>
              <a:gd name="adj" fmla="val 2832"/>
            </a:avLst>
          </a:prstGeom>
          <a:solidFill>
            <a:srgbClr val="0A1628"/>
          </a:solidFill>
        </p:spPr>
      </p:sp>
      <p:pic>
        <p:nvPicPr>
          <p:cNvPr id="23" name="Image 0" descr="/data/user/work/ppt_images/image-security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0" y="1188720"/>
            <a:ext cx="3200400" cy="24003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394960" y="372618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FFF3E0"/>
          </a:solidFill>
        </p:spPr>
      </p:sp>
      <p:sp>
        <p:nvSpPr>
          <p:cNvPr id="25" name="Text 22"/>
          <p:cNvSpPr/>
          <p:nvPr/>
        </p:nvSpPr>
        <p:spPr>
          <a:xfrm>
            <a:off x="5486400" y="3726180"/>
            <a:ext cx="320040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651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注意：委托授权分区域操作，每个使用区域均需配置。训推平台权限不凌驾于其他服务权限之上。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矩形 26"/>
          <p:cNvSpPr/>
          <p:nvPr/>
        </p:nvSpPr>
        <p:spPr>
          <a:xfrm>
            <a:off x="8213725" y="3308985"/>
            <a:ext cx="564515" cy="280035"/>
          </a:xfrm>
          <a:prstGeom prst="rect">
            <a:avLst/>
          </a:prstGeom>
          <a:solidFill>
            <a:srgbClr val="031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工作空间管理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594360" y="11430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43000"/>
            <a:ext cx="2468880" cy="457200"/>
          </a:xfrm>
          <a:prstGeom prst="rect">
            <a:avLst/>
          </a:prstGeom>
          <a:solidFill>
            <a:srgbClr val="6B7B8D"/>
          </a:solidFill>
        </p:spPr>
      </p:sp>
      <p:sp>
        <p:nvSpPr>
          <p:cNvPr id="6" name="Shape 4"/>
          <p:cNvSpPr/>
          <p:nvPr/>
        </p:nvSpPr>
        <p:spPr>
          <a:xfrm>
            <a:off x="594360" y="1417320"/>
            <a:ext cx="2468880" cy="182880"/>
          </a:xfrm>
          <a:prstGeom prst="rect">
            <a:avLst/>
          </a:prstGeom>
          <a:solidFill>
            <a:srgbClr val="6B7B8D"/>
          </a:solidFill>
        </p:spPr>
      </p:sp>
      <p:sp>
        <p:nvSpPr>
          <p:cNvPr id="7" name="Text 5"/>
          <p:cNvSpPr/>
          <p:nvPr/>
        </p:nvSpPr>
        <p:spPr>
          <a:xfrm>
            <a:off x="594360" y="1143000"/>
            <a:ext cx="246888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Default空间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2194560" cy="8229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系统默认创建，所有初始资源在此空间下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43000"/>
            <a:ext cx="2468880" cy="457200"/>
          </a:xfrm>
          <a:prstGeom prst="rect">
            <a:avLst/>
          </a:prstGeom>
          <a:solidFill>
            <a:srgbClr val="1A7A8C"/>
          </a:solidFill>
        </p:spPr>
      </p:sp>
      <p:sp>
        <p:nvSpPr>
          <p:cNvPr id="11" name="Shape 9"/>
          <p:cNvSpPr/>
          <p:nvPr/>
        </p:nvSpPr>
        <p:spPr>
          <a:xfrm>
            <a:off x="3337560" y="1417320"/>
            <a:ext cx="2468880" cy="182880"/>
          </a:xfrm>
          <a:prstGeom prst="rect">
            <a:avLst/>
          </a:prstGeom>
          <a:solidFill>
            <a:srgbClr val="1A7A8C"/>
          </a:solidFill>
        </p:spPr>
      </p:sp>
      <p:sp>
        <p:nvSpPr>
          <p:cNvPr id="12" name="Text 10"/>
          <p:cNvSpPr/>
          <p:nvPr/>
        </p:nvSpPr>
        <p:spPr>
          <a:xfrm>
            <a:off x="3337560" y="1143000"/>
            <a:ext cx="246888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自定义空间A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691640"/>
            <a:ext cx="2194560" cy="8229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绑定企业项目，隔离研发团队资源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43000"/>
            <a:ext cx="2468880" cy="4572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16" name="Shape 14"/>
          <p:cNvSpPr/>
          <p:nvPr/>
        </p:nvSpPr>
        <p:spPr>
          <a:xfrm>
            <a:off x="6080760" y="1417320"/>
            <a:ext cx="2468880" cy="18288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17" name="Text 15"/>
          <p:cNvSpPr/>
          <p:nvPr/>
        </p:nvSpPr>
        <p:spPr>
          <a:xfrm>
            <a:off x="6080760" y="1143000"/>
            <a:ext cx="246888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自定义空间B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691640"/>
            <a:ext cx="2194560" cy="8229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独立权限控制，隔离生产环境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工作空间核心能力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319272"/>
            <a:ext cx="274320" cy="27432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22" name="Text 20"/>
          <p:cNvSpPr/>
          <p:nvPr/>
        </p:nvSpPr>
        <p:spPr>
          <a:xfrm>
            <a:off x="594360" y="3319272"/>
            <a:ext cx="2743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273552"/>
            <a:ext cx="33832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资源隔离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502152"/>
            <a:ext cx="33832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不同空间中的数据集、算法、模型等AI资产互不影响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20040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319272"/>
            <a:ext cx="274320" cy="27432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27" name="Text 25"/>
          <p:cNvSpPr/>
          <p:nvPr/>
        </p:nvSpPr>
        <p:spPr>
          <a:xfrm>
            <a:off x="4800600" y="3319272"/>
            <a:ext cx="2743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3273552"/>
            <a:ext cx="33832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权限叠加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3502152"/>
            <a:ext cx="33832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工作空间访问权 + 训推平台操作权，两者叠加生效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97764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4096512"/>
            <a:ext cx="274320" cy="27432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32" name="Text 30"/>
          <p:cNvSpPr/>
          <p:nvPr/>
        </p:nvSpPr>
        <p:spPr>
          <a:xfrm>
            <a:off x="594360" y="4096512"/>
            <a:ext cx="2743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050792"/>
            <a:ext cx="33832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企业项目绑定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279392"/>
            <a:ext cx="33832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每个工作空间绑定一个企业项目，支持按项目授权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97764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4096512"/>
            <a:ext cx="274320" cy="27432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37" name="Text 35"/>
          <p:cNvSpPr/>
          <p:nvPr/>
        </p:nvSpPr>
        <p:spPr>
          <a:xfrm>
            <a:off x="4800600" y="4096512"/>
            <a:ext cx="2743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4050792"/>
            <a:ext cx="33832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空间切换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66360" y="4279392"/>
            <a:ext cx="33832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通过菜单栏左上角切换，不同空间独立工作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数据管理与OBS存储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Text 2"/>
          <p:cNvSpPr/>
          <p:nvPr/>
        </p:nvSpPr>
        <p:spPr>
          <a:xfrm>
            <a:off x="457200" y="960120"/>
            <a:ext cx="4846320" cy="32004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OBS对象存储服务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84632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训推平台使用OBS进行数据存储及模型备份，实现安全、高可靠和低成本的存储需求。使用前需创建OBS桶并建立文件夹用于存放数据。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846320" cy="32004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数据准备流程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56032" cy="256032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8" name="Text 6"/>
          <p:cNvSpPr/>
          <p:nvPr/>
        </p:nvSpPr>
        <p:spPr>
          <a:xfrm>
            <a:off x="457200" y="2286000"/>
            <a:ext cx="256032" cy="256032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1188720" cy="256032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创建OBS桶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286000"/>
            <a:ext cx="32918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在OBS管理控制台创建桶，如 c-flowers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256032" cy="256032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2" name="Text 10"/>
          <p:cNvSpPr/>
          <p:nvPr/>
        </p:nvSpPr>
        <p:spPr>
          <a:xfrm>
            <a:off x="457200" y="2724912"/>
            <a:ext cx="256032" cy="256032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724912"/>
            <a:ext cx="1188720" cy="256032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创建文件夹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724912"/>
            <a:ext cx="32918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在桶中新建文件夹存放训练数据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256032" cy="256032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6" name="Text 14"/>
          <p:cNvSpPr/>
          <p:nvPr/>
        </p:nvSpPr>
        <p:spPr>
          <a:xfrm>
            <a:off x="457200" y="3163824"/>
            <a:ext cx="256032" cy="256032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163824"/>
            <a:ext cx="1188720" cy="256032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上传数据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163824"/>
            <a:ext cx="32918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上传训练数据集到OBS指定路径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256032" cy="256032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20" name="Text 18"/>
          <p:cNvSpPr/>
          <p:nvPr/>
        </p:nvSpPr>
        <p:spPr>
          <a:xfrm>
            <a:off x="457200" y="3602736"/>
            <a:ext cx="256032" cy="256032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3602736"/>
            <a:ext cx="1188720" cy="256032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路径引用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3602736"/>
            <a:ext cx="32918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训练时使用 obs://bucket/path 格式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1097280"/>
            <a:ext cx="3383280" cy="2583180"/>
          </a:xfrm>
          <a:prstGeom prst="roundRect">
            <a:avLst>
              <a:gd name="adj" fmla="val 2832"/>
            </a:avLst>
          </a:prstGeom>
          <a:solidFill>
            <a:srgbClr val="0A1628"/>
          </a:solidFill>
        </p:spPr>
      </p:sp>
      <p:pic>
        <p:nvPicPr>
          <p:cNvPr id="24" name="Image 0" descr="/data/user/work/ppt_images/image-platform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0" y="1188720"/>
            <a:ext cx="3200400" cy="24003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86400" y="3634740"/>
            <a:ext cx="3200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数据存储架构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矩形 26"/>
          <p:cNvSpPr/>
          <p:nvPr/>
        </p:nvSpPr>
        <p:spPr>
          <a:xfrm>
            <a:off x="8122285" y="3308985"/>
            <a:ext cx="564515" cy="280035"/>
          </a:xfrm>
          <a:prstGeom prst="rect">
            <a:avLst/>
          </a:prstGeom>
          <a:solidFill>
            <a:srgbClr val="031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模型训练流程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434340" y="109728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188720"/>
            <a:ext cx="402336" cy="402336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6" name="Text 4"/>
          <p:cNvSpPr/>
          <p:nvPr/>
        </p:nvSpPr>
        <p:spPr>
          <a:xfrm>
            <a:off x="987552" y="1188720"/>
            <a:ext cx="402336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0060" y="1645920"/>
            <a:ext cx="141732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数据准备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" y="1874520"/>
            <a:ext cx="1417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OBS上传数据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数据预处理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数据集标注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43100" y="1737360"/>
            <a:ext cx="1828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25980" y="109728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79192" y="1188720"/>
            <a:ext cx="402336" cy="402336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2" name="Text 10"/>
          <p:cNvSpPr/>
          <p:nvPr/>
        </p:nvSpPr>
        <p:spPr>
          <a:xfrm>
            <a:off x="2679192" y="1188720"/>
            <a:ext cx="402336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71700" y="1645920"/>
            <a:ext cx="141732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创建算法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71700" y="1874520"/>
            <a:ext cx="1417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自定义算法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订阅AI Hub算法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34740" y="1737360"/>
            <a:ext cx="1828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17620" y="109728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0832" y="1188720"/>
            <a:ext cx="402336" cy="402336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8" name="Text 16"/>
          <p:cNvSpPr/>
          <p:nvPr/>
        </p:nvSpPr>
        <p:spPr>
          <a:xfrm>
            <a:off x="4370832" y="1188720"/>
            <a:ext cx="402336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63340" y="1645920"/>
            <a:ext cx="141732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提交训练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63340" y="1874520"/>
            <a:ext cx="1417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选择资源规格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配置超参数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设置数据路径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26380" y="1737360"/>
            <a:ext cx="1828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09260" y="109728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62472" y="1188720"/>
            <a:ext cx="402336" cy="402336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24" name="Text 22"/>
          <p:cNvSpPr/>
          <p:nvPr/>
        </p:nvSpPr>
        <p:spPr>
          <a:xfrm>
            <a:off x="6062472" y="1188720"/>
            <a:ext cx="402336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54980" y="1645920"/>
            <a:ext cx="141732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训练监控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54980" y="1874520"/>
            <a:ext cx="1417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日志实时查看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指标可视化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资源使用监控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18020" y="1737360"/>
            <a:ext cx="1828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00900" y="109728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54112" y="1188720"/>
            <a:ext cx="402336" cy="402336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30" name="Text 28"/>
          <p:cNvSpPr/>
          <p:nvPr/>
        </p:nvSpPr>
        <p:spPr>
          <a:xfrm>
            <a:off x="7754112" y="1188720"/>
            <a:ext cx="402336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46620" y="1645920"/>
            <a:ext cx="141732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模型产出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6620" y="1874520"/>
            <a:ext cx="1417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模型保存到OBS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导入模型库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支持断点续训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训练关键提示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" y="297180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" y="3108960"/>
            <a:ext cx="320040" cy="32004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36" name="Text 34"/>
          <p:cNvSpPr/>
          <p:nvPr/>
        </p:nvSpPr>
        <p:spPr>
          <a:xfrm>
            <a:off x="594360" y="3108960"/>
            <a:ext cx="3200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" y="3044952"/>
            <a:ext cx="33375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断点续训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273552"/>
            <a:ext cx="33375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训练中断后可从上次检查点恢复，避免从头开始，节省时间和算力成本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97180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108960"/>
            <a:ext cx="320040" cy="32004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1" name="Text 39"/>
          <p:cNvSpPr/>
          <p:nvPr/>
        </p:nvSpPr>
        <p:spPr>
          <a:xfrm>
            <a:off x="4800600" y="3108960"/>
            <a:ext cx="3200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044952"/>
            <a:ext cx="33375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自定义镜像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3273552"/>
            <a:ext cx="33375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基于平台基础镜像制作自定义训练环境，灵活安装依赖包和自定义框架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393192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4360" y="4069080"/>
            <a:ext cx="320040" cy="32004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6" name="Text 44"/>
          <p:cNvSpPr/>
          <p:nvPr/>
        </p:nvSpPr>
        <p:spPr>
          <a:xfrm>
            <a:off x="594360" y="4069080"/>
            <a:ext cx="3200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5840" y="4005072"/>
            <a:ext cx="33375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VS Code远程调试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5840" y="4233672"/>
            <a:ext cx="33375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支持通过VS Code插件远程连接到训练作业，进行交互式调试开发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393192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00600" y="4069080"/>
            <a:ext cx="320040" cy="32004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51" name="Text 49"/>
          <p:cNvSpPr/>
          <p:nvPr/>
        </p:nvSpPr>
        <p:spPr>
          <a:xfrm>
            <a:off x="4800600" y="4069080"/>
            <a:ext cx="3200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12080" y="4005072"/>
            <a:ext cx="33375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超参调优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12080" y="4233672"/>
            <a:ext cx="33375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通过超参数优化提升模型精度，支持网格搜索、随机搜索等调参策略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训练高级功能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434340" y="10515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" y="1051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A7A8C"/>
          </a:solidFill>
        </p:spPr>
      </p:sp>
      <p:sp>
        <p:nvSpPr>
          <p:cNvPr id="6" name="Shape 4"/>
          <p:cNvSpPr/>
          <p:nvPr/>
        </p:nvSpPr>
        <p:spPr>
          <a:xfrm>
            <a:off x="434340" y="1508760"/>
            <a:ext cx="2606040" cy="320040"/>
          </a:xfrm>
          <a:prstGeom prst="rect">
            <a:avLst/>
          </a:prstGeom>
          <a:solidFill>
            <a:srgbClr val="1A7A8C"/>
          </a:solidFill>
        </p:spPr>
      </p:sp>
      <p:sp>
        <p:nvSpPr>
          <p:cNvPr id="7" name="Text 5"/>
          <p:cNvSpPr/>
          <p:nvPr/>
        </p:nvSpPr>
        <p:spPr>
          <a:xfrm>
            <a:off x="571500" y="1143000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4420" y="1143000"/>
            <a:ext cx="1874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自定义镜像训练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" y="1965960"/>
            <a:ext cx="23317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支持基于平台基础镜像制作自定义训练环境，灵活安装依赖包和自定义框架。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1500" y="2743200"/>
            <a:ext cx="2331720" cy="1371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基于平台基础镜像制作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灵活安装依赖包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支持自定义AI框架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镜像可复用与版本管理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8980" y="10515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051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0C9A7"/>
          </a:solidFill>
        </p:spPr>
      </p:sp>
      <p:sp>
        <p:nvSpPr>
          <p:cNvPr id="13" name="Shape 11"/>
          <p:cNvSpPr/>
          <p:nvPr/>
        </p:nvSpPr>
        <p:spPr>
          <a:xfrm>
            <a:off x="3268980" y="1508760"/>
            <a:ext cx="2606040" cy="32004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14" name="Text 12"/>
          <p:cNvSpPr/>
          <p:nvPr/>
        </p:nvSpPr>
        <p:spPr>
          <a:xfrm>
            <a:off x="3406140" y="1143000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09060" y="1143000"/>
            <a:ext cx="1874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训练高可靠性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6140" y="1965960"/>
            <a:ext cx="23317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提供断点续训、自动重试、容错恢复等高可靠性能力，保障长时间训练任务稳定运行。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06140" y="2743200"/>
            <a:ext cx="2331720" cy="1371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检查点自动保存与恢复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训练作业失败自动重试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支持自定义保存频率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资源不足时自动排队等待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03620" y="10515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03620" y="1051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</p:spPr>
      </p:sp>
      <p:sp>
        <p:nvSpPr>
          <p:cNvPr id="20" name="Shape 18"/>
          <p:cNvSpPr/>
          <p:nvPr/>
        </p:nvSpPr>
        <p:spPr>
          <a:xfrm>
            <a:off x="6103620" y="1508760"/>
            <a:ext cx="2606040" cy="32004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21" name="Text 19"/>
          <p:cNvSpPr/>
          <p:nvPr/>
        </p:nvSpPr>
        <p:spPr>
          <a:xfrm>
            <a:off x="6240780" y="1143000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43700" y="1143000"/>
            <a:ext cx="1874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监控与可视化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40780" y="1965960"/>
            <a:ext cx="23317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提供训练过程实时监控和指标可视化，帮助用户掌握训练进度和模型收敛情况。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40780" y="2743200"/>
            <a:ext cx="2331720" cy="1371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训练日志实时查看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Loss/Accuracy等指标可视化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GPU/NPU利用率监控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平台内置监控面板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模型管理与版本控制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502920" y="1097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C9A7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16459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模型创建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645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从训练产出导入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或从OBS上传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1600200"/>
            <a:ext cx="274320" cy="0"/>
          </a:xfrm>
          <a:prstGeom prst="line">
            <a:avLst/>
          </a:prstGeom>
          <a:noFill/>
          <a:ln w="25400">
            <a:solidFill>
              <a:srgbClr val="6B7B8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1097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A7A8C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234440"/>
            <a:ext cx="16459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版本管理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1554480"/>
            <a:ext cx="1645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多版本管理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支持版本切换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1600200"/>
            <a:ext cx="274320" cy="0"/>
          </a:xfrm>
          <a:prstGeom prst="line">
            <a:avLst/>
          </a:prstGeom>
          <a:noFill/>
          <a:ln w="25400">
            <a:solidFill>
              <a:srgbClr val="6B7B8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1097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F1B2D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234440"/>
            <a:ext cx="16459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模型导入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554480"/>
            <a:ext cx="1645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从AI Hub订阅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或OBS路径导入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37960" y="1600200"/>
            <a:ext cx="274320" cy="0"/>
          </a:xfrm>
          <a:prstGeom prst="line">
            <a:avLst/>
          </a:prstGeom>
          <a:noFill/>
          <a:ln w="25400">
            <a:solidFill>
              <a:srgbClr val="6B7B8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12280" y="1097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5A623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234440"/>
            <a:ext cx="16459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部署准备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1554480"/>
            <a:ext cx="1645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配置推理规格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0F0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准备上线部署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模型管理核心能力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278892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788920"/>
            <a:ext cx="54864" cy="9144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22" name="Text 20"/>
          <p:cNvSpPr/>
          <p:nvPr/>
        </p:nvSpPr>
        <p:spPr>
          <a:xfrm>
            <a:off x="640080" y="2880360"/>
            <a:ext cx="370332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多来源导入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108960"/>
            <a:ext cx="370332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支持从训练作业产出、OBS路径导入模型，也支持从AI Hub订阅模型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78892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788920"/>
            <a:ext cx="54864" cy="9144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26" name="Text 24"/>
          <p:cNvSpPr/>
          <p:nvPr/>
        </p:nvSpPr>
        <p:spPr>
          <a:xfrm>
            <a:off x="4846320" y="2880360"/>
            <a:ext cx="370332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版本控制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108960"/>
            <a:ext cx="370332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统一管理模型版本，支持版本对比、切换和回滚，确保模型可追溯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84048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840480"/>
            <a:ext cx="54864" cy="9144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30" name="Text 28"/>
          <p:cNvSpPr/>
          <p:nvPr/>
        </p:nvSpPr>
        <p:spPr>
          <a:xfrm>
            <a:off x="640080" y="3931920"/>
            <a:ext cx="370332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事件追踪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160520"/>
            <a:ext cx="370332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记录模型创建、修改、部署等全生命周期事件，提供审计能力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84048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840480"/>
            <a:ext cx="54864" cy="9144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34" name="Text 32"/>
          <p:cNvSpPr/>
          <p:nvPr/>
        </p:nvSpPr>
        <p:spPr>
          <a:xfrm>
            <a:off x="4846320" y="3931920"/>
            <a:ext cx="370332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模型规范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160520"/>
            <a:ext cx="370332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需符合模型包规范，包含模型文件、配置文件和推理代码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模型部署与服务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457200" y="100584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41732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6" name="Shape 4"/>
          <p:cNvSpPr/>
          <p:nvPr/>
        </p:nvSpPr>
        <p:spPr>
          <a:xfrm>
            <a:off x="594360" y="1097280"/>
            <a:ext cx="365760" cy="36576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7" name="Text 5"/>
          <p:cNvSpPr/>
          <p:nvPr/>
        </p:nvSpPr>
        <p:spPr>
          <a:xfrm>
            <a:off x="594360" y="1097280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078992"/>
            <a:ext cx="1645920" cy="228600"/>
          </a:xfrm>
          <a:prstGeom prst="rect">
            <a:avLst/>
          </a:prstGeom>
          <a:noFill/>
        </p:spPr>
        <p:txBody>
          <a:bodyPr wrap="square" rtlCol="0" anchor="ctr">
            <a:normAutofit fontScale="6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在线服务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307592"/>
            <a:ext cx="4160520" cy="2286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实时推理请求响应，支持高并发实时预测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4572000" cy="77724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自动扩缩容与灰度发布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模型预热减少冷启动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健康检查与故障恢复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支持Token/App Key认证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54864" cy="1417320"/>
          </a:xfrm>
          <a:prstGeom prst="rect">
            <a:avLst/>
          </a:prstGeom>
          <a:solidFill>
            <a:srgbClr val="1A7A8C"/>
          </a:solidFill>
        </p:spPr>
      </p:sp>
      <p:sp>
        <p:nvSpPr>
          <p:cNvPr id="13" name="Shape 11"/>
          <p:cNvSpPr/>
          <p:nvPr/>
        </p:nvSpPr>
        <p:spPr>
          <a:xfrm>
            <a:off x="594360" y="2651760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4" name="Text 12"/>
          <p:cNvSpPr/>
          <p:nvPr/>
        </p:nvSpPr>
        <p:spPr>
          <a:xfrm>
            <a:off x="594360" y="2651760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33472"/>
            <a:ext cx="1645920" cy="228600"/>
          </a:xfrm>
          <a:prstGeom prst="rect">
            <a:avLst/>
          </a:prstGeom>
          <a:noFill/>
        </p:spPr>
        <p:txBody>
          <a:bodyPr wrap="square" rtlCol="0" anchor="ctr">
            <a:normAutofit fontScale="6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批量服务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62072"/>
            <a:ext cx="4160520" cy="2286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对批量数据进行离线推理，异步处理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154680"/>
            <a:ext cx="4572000" cy="77724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适合非实时大批量预测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按需调度执行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结果自动存入OBS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支持定时触发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94960" y="1097280"/>
            <a:ext cx="3383280" cy="2583180"/>
          </a:xfrm>
          <a:prstGeom prst="roundRect">
            <a:avLst>
              <a:gd name="adj" fmla="val 2832"/>
            </a:avLst>
          </a:prstGeom>
          <a:solidFill>
            <a:srgbClr val="0A1628"/>
          </a:solidFill>
        </p:spPr>
      </p:sp>
      <p:pic>
        <p:nvPicPr>
          <p:cNvPr id="19" name="Image 0" descr="/data/user/work/ppt_images/image-deployment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0" y="1188720"/>
            <a:ext cx="3200400" cy="24003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394960" y="372618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E0F5F0"/>
          </a:solidFill>
        </p:spPr>
      </p:sp>
      <p:sp>
        <p:nvSpPr>
          <p:cNvPr id="21" name="Text 18"/>
          <p:cNvSpPr/>
          <p:nvPr/>
        </p:nvSpPr>
        <p:spPr>
          <a:xfrm>
            <a:off x="5486400" y="3753612"/>
            <a:ext cx="3200400" cy="22860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新版推理增强能力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0" y="3973068"/>
            <a:ext cx="32004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服务版本管理、应用密钥、内网接入、自动扩缩容策略、Cloud Shell容器登录、故障快恢等企业级能力。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00" dirty="0"/>
          </a:p>
        </p:txBody>
      </p:sp>
      <p:sp>
        <p:nvSpPr>
          <p:cNvPr id="26" name="矩形 25"/>
          <p:cNvSpPr/>
          <p:nvPr/>
        </p:nvSpPr>
        <p:spPr>
          <a:xfrm>
            <a:off x="8049260" y="3253740"/>
            <a:ext cx="564515" cy="280035"/>
          </a:xfrm>
          <a:prstGeom prst="rect">
            <a:avLst/>
          </a:prstGeom>
          <a:solidFill>
            <a:srgbClr val="031F4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资源管理详解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502920" y="105156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00C9A7"/>
          </a:solidFill>
        </p:spPr>
      </p:sp>
      <p:sp>
        <p:nvSpPr>
          <p:cNvPr id="6" name="Shape 4"/>
          <p:cNvSpPr/>
          <p:nvPr/>
        </p:nvSpPr>
        <p:spPr>
          <a:xfrm>
            <a:off x="502920" y="1417320"/>
            <a:ext cx="3931920" cy="32004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7" name="Text 5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315468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公共资源池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平台共享资源，按需使用，自动调度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11887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无需创建，即开即用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按需分配，自动释放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适合开发测试和短期训练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高峰期可能排队等待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515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A7A8C"/>
          </a:solidFill>
        </p:spPr>
      </p:sp>
      <p:sp>
        <p:nvSpPr>
          <p:cNvPr id="13" name="Shape 11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solidFill>
            <a:srgbClr val="1A7A8C"/>
          </a:solidFill>
        </p:spPr>
      </p:sp>
      <p:sp>
        <p:nvSpPr>
          <p:cNvPr id="14" name="Text 12"/>
          <p:cNvSpPr/>
          <p:nvPr/>
        </p:nvSpPr>
        <p:spPr>
          <a:xfrm>
            <a:off x="4846320" y="1143000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94960" y="1143000"/>
            <a:ext cx="315468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专属资源池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独享计算资源，提供资源池创建与管理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3566160" cy="11887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支持逻辑子池划分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节点管理与网络管理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扩缩容与驱动升级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镜像预热与模型预热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高可用冗余节点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0F5F0"/>
          </a:solidFill>
        </p:spPr>
      </p:sp>
      <p:sp>
        <p:nvSpPr>
          <p:cNvPr id="19" name="Text 17"/>
          <p:cNvSpPr/>
          <p:nvPr/>
        </p:nvSpPr>
        <p:spPr>
          <a:xfrm>
            <a:off x="594360" y="3794760"/>
            <a:ext cx="795528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7A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资源池使用建议：开发阶段使用公共资源池快速验证；生产部署创建专属资源池确保稳定性和性能。混合场景可通过逻辑子池隔离训练与推理。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专属资源池关键操作：创建资源池 → 配置网络 → 添加节点 → 设置作业类型 → 扩缩容 → 驱动升级 → 模型预热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Hub资产共享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Text 2"/>
          <p:cNvSpPr/>
          <p:nvPr/>
        </p:nvSpPr>
        <p:spPr>
          <a:xfrm>
            <a:off x="457200" y="960120"/>
            <a:ext cx="4846320" cy="32004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Hub社区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84632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Hub是训推平台提供的AI资产共享社区，支持模型、算法等AI资产的发布、订阅与共享，促进团队间AI资产复用。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93392"/>
            <a:ext cx="365760" cy="36576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8" name="Text 6"/>
          <p:cNvSpPr/>
          <p:nvPr/>
        </p:nvSpPr>
        <p:spPr>
          <a:xfrm>
            <a:off x="548640" y="1993392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1371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模型资产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2788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预训练模型、微调模型发布共享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15184"/>
            <a:ext cx="365760" cy="36576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13" name="Text 11"/>
          <p:cNvSpPr/>
          <p:nvPr/>
        </p:nvSpPr>
        <p:spPr>
          <a:xfrm>
            <a:off x="548640" y="2615184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542032"/>
            <a:ext cx="1371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算法资产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2542032"/>
            <a:ext cx="2788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训练算法、推理算法发布订阅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163824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36976"/>
            <a:ext cx="365760" cy="36576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18" name="Text 16"/>
          <p:cNvSpPr/>
          <p:nvPr/>
        </p:nvSpPr>
        <p:spPr>
          <a:xfrm>
            <a:off x="548640" y="3236976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163824"/>
            <a:ext cx="1371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Workflow资产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3163824"/>
            <a:ext cx="2788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完整AI开发流程模板复用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4846320" cy="274320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发布与订阅流程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48463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发布资产 → 设置标签与描述 → 审核通过 → 团队成员订阅 → 一键导入使用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1097280"/>
            <a:ext cx="3383280" cy="2583180"/>
          </a:xfrm>
          <a:prstGeom prst="roundRect">
            <a:avLst>
              <a:gd name="adj" fmla="val 2832"/>
            </a:avLst>
          </a:prstGeom>
          <a:solidFill>
            <a:srgbClr val="0A1628"/>
          </a:solidFill>
        </p:spPr>
      </p:sp>
      <p:pic>
        <p:nvPicPr>
          <p:cNvPr id="24" name="Image 0" descr="/data/user/work/ppt_images/image-aihub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0" y="1188720"/>
            <a:ext cx="3200400" cy="24003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86400" y="3634740"/>
            <a:ext cx="3200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AI资产共享社区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00" dirty="0"/>
          </a:p>
        </p:txBody>
      </p:sp>
      <p:sp>
        <p:nvSpPr>
          <p:cNvPr id="27" name="矩形 26"/>
          <p:cNvSpPr/>
          <p:nvPr/>
        </p:nvSpPr>
        <p:spPr>
          <a:xfrm>
            <a:off x="8213725" y="3322955"/>
            <a:ext cx="564515" cy="280035"/>
          </a:xfrm>
          <a:prstGeom prst="rect">
            <a:avLst/>
          </a:prstGeom>
          <a:solidFill>
            <a:srgbClr val="031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平台监控与运维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Text 2"/>
          <p:cNvSpPr/>
          <p:nvPr/>
        </p:nvSpPr>
        <p:spPr>
          <a:xfrm>
            <a:off x="457200" y="960120"/>
            <a:ext cx="4846320" cy="32004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训推平台监控总览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8463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通过训推平台控制台总览页面，查看生产概况、资源使用情况、训练作业状态等核心运维信息。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54864" cy="6858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8" name="Text 6"/>
          <p:cNvSpPr/>
          <p:nvPr/>
        </p:nvSpPr>
        <p:spPr>
          <a:xfrm>
            <a:off x="594360" y="1920240"/>
            <a:ext cx="4572000" cy="22860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训练作业监控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45720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GPU/NPU利用率    • 内存使用情况    • 训练日志实时查看    • Loss/Accuracy指标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51760"/>
            <a:ext cx="54864" cy="6858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12" name="Text 10"/>
          <p:cNvSpPr/>
          <p:nvPr/>
        </p:nvSpPr>
        <p:spPr>
          <a:xfrm>
            <a:off x="594360" y="2697480"/>
            <a:ext cx="4572000" cy="22860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在线服务监控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45720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请求QPS与延迟    • 服务实例状态    • 资源使用率趋势    • 调用成功率统计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54864" cy="6858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16" name="Text 14"/>
          <p:cNvSpPr/>
          <p:nvPr/>
        </p:nvSpPr>
        <p:spPr>
          <a:xfrm>
            <a:off x="594360" y="3474720"/>
            <a:ext cx="4572000" cy="22860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资源池监控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703320"/>
            <a:ext cx="45720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节点实时状态    • 资源占用率趋势图    • 作业运行情况    • 配额使用情况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94960" y="1097280"/>
            <a:ext cx="3383280" cy="2583180"/>
          </a:xfrm>
          <a:prstGeom prst="roundRect">
            <a:avLst>
              <a:gd name="adj" fmla="val 2832"/>
            </a:avLst>
          </a:prstGeom>
          <a:solidFill>
            <a:srgbClr val="0A1628"/>
          </a:solidFill>
        </p:spPr>
      </p:sp>
      <p:pic>
        <p:nvPicPr>
          <p:cNvPr id="19" name="Image 0" descr="/data/user/work/ppt_images/image-monitorin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0" y="1188720"/>
            <a:ext cx="3200400" cy="24003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394960" y="372618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E0F5F0"/>
          </a:solidFill>
        </p:spPr>
      </p:sp>
      <p:sp>
        <p:nvSpPr>
          <p:cNvPr id="21" name="Text 18"/>
          <p:cNvSpPr/>
          <p:nvPr/>
        </p:nvSpPr>
        <p:spPr>
          <a:xfrm>
            <a:off x="5486400" y="3753612"/>
            <a:ext cx="3200400" cy="22860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7A8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日志与诊断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0" y="3973068"/>
            <a:ext cx="32004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平台支持在线服务日志查看、Cloud Shell登录容器调试、事件追踪等诊断能力，帮助快速定位训练部署问题。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00" dirty="0"/>
          </a:p>
        </p:txBody>
      </p:sp>
      <p:sp>
        <p:nvSpPr>
          <p:cNvPr id="26" name="矩形 25"/>
          <p:cNvSpPr/>
          <p:nvPr/>
        </p:nvSpPr>
        <p:spPr>
          <a:xfrm>
            <a:off x="8048625" y="3291840"/>
            <a:ext cx="564515" cy="280035"/>
          </a:xfrm>
          <a:prstGeom prst="rect">
            <a:avLst/>
          </a:prstGeom>
          <a:solidFill>
            <a:srgbClr val="081D3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最佳实践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502920" y="105156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3931920" cy="54864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7" name="Text 5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1546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训练优化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合理设置batch_size，避免OOM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启用混合精度训练加速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使用断点续训避免重复计算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专属资源池保障训练稳定性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3931920" cy="54864"/>
          </a:xfrm>
          <a:prstGeom prst="rect">
            <a:avLst/>
          </a:prstGeom>
          <a:solidFill>
            <a:srgbClr val="1A7A8C"/>
          </a:solidFill>
        </p:spPr>
      </p:sp>
      <p:sp>
        <p:nvSpPr>
          <p:cNvPr id="12" name="Shape 10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3" name="Text 11"/>
          <p:cNvSpPr/>
          <p:nvPr/>
        </p:nvSpPr>
        <p:spPr>
          <a:xfrm>
            <a:off x="4846320" y="1234440"/>
            <a:ext cx="4114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234440"/>
            <a:ext cx="31546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部署优化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启用模型预热减少冷启动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配置自动扩缩容策略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使用灰度发布降低风险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专属资源池部署生产服务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9260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26080"/>
            <a:ext cx="3931920" cy="54864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18" name="Shape 16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0F1B2D"/>
          </a:solidFill>
        </p:spPr>
      </p:sp>
      <p:sp>
        <p:nvSpPr>
          <p:cNvPr id="19" name="Text 17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108960"/>
            <a:ext cx="31546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611880"/>
            <a:ext cx="356616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OBS按业务分区存储数据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数据集版本化管理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增量更新避免全量重复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敏感数据使用加密桶存储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3931920" cy="54864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4" name="Shape 22"/>
          <p:cNvSpPr/>
          <p:nvPr/>
        </p:nvSpPr>
        <p:spPr>
          <a:xfrm>
            <a:off x="4846320" y="3108960"/>
            <a:ext cx="411480" cy="41148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5" name="Text 23"/>
          <p:cNvSpPr/>
          <p:nvPr/>
        </p:nvSpPr>
        <p:spPr>
          <a:xfrm>
            <a:off x="4846320" y="3108960"/>
            <a:ext cx="4114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3108960"/>
            <a:ext cx="315468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安全实践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356616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遵循最小权限原则配置策略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定期检查委托授权范围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使用工作空间隔离环境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密钥妥善保管定期轮换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常见问题与故障排除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434340" y="10515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4068" y="1161288"/>
            <a:ext cx="320040" cy="32004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6" name="Text 4"/>
          <p:cNvSpPr/>
          <p:nvPr/>
        </p:nvSpPr>
        <p:spPr>
          <a:xfrm>
            <a:off x="544068" y="1161288"/>
            <a:ext cx="3200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7260" y="1161288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训练作业排队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1554480"/>
            <a:ext cx="23317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85D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提交训练作业后长时间排队等待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" y="1828800"/>
            <a:ext cx="233172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检查资源池配额是否充足。公共资源池高峰期可能排队，建议使用专属资源池或错峰提交。可通过总览页面查看资源占用情况。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8980" y="10515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8708" y="1161288"/>
            <a:ext cx="320040" cy="32004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2" name="Text 10"/>
          <p:cNvSpPr/>
          <p:nvPr/>
        </p:nvSpPr>
        <p:spPr>
          <a:xfrm>
            <a:off x="3378708" y="1161288"/>
            <a:ext cx="3200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71900" y="1161288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OBS路径找不到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6140" y="1554480"/>
            <a:ext cx="23317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85D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训练或部署时提示OBS路径不存在或无权限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6140" y="1828800"/>
            <a:ext cx="233172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确认OBS桶与训推平台在同一区域；检查委托授权配置是否正确，需具备OBS读写列表权限；路径格式为 obs://bucket/path。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03620" y="10515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3348" y="1161288"/>
            <a:ext cx="320040" cy="320040"/>
          </a:xfrm>
          <a:prstGeom prst="ellipse">
            <a:avLst/>
          </a:prstGeom>
          <a:solidFill>
            <a:srgbClr val="E85D5D"/>
          </a:solidFill>
        </p:spPr>
      </p:sp>
      <p:sp>
        <p:nvSpPr>
          <p:cNvPr id="18" name="Text 16"/>
          <p:cNvSpPr/>
          <p:nvPr/>
        </p:nvSpPr>
        <p:spPr>
          <a:xfrm>
            <a:off x="6213348" y="1161288"/>
            <a:ext cx="3200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06540" y="1161288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服务部署失败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0780" y="1554480"/>
            <a:ext cx="23317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85D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模型部署为在线服务时失败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40780" y="1828800"/>
            <a:ext cx="233172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检查模型是否满足部署规范要求；确认资源规格是否满足推理需求；查看服务事件日志定位原因；确保委托授权配置正确。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4340" y="27432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068" y="2852928"/>
            <a:ext cx="320040" cy="320040"/>
          </a:xfrm>
          <a:prstGeom prst="ellipse">
            <a:avLst/>
          </a:prstGeom>
          <a:solidFill>
            <a:srgbClr val="0F1B2D"/>
          </a:solidFill>
        </p:spPr>
      </p:sp>
      <p:sp>
        <p:nvSpPr>
          <p:cNvPr id="24" name="Text 22"/>
          <p:cNvSpPr/>
          <p:nvPr/>
        </p:nvSpPr>
        <p:spPr>
          <a:xfrm>
            <a:off x="544068" y="2852928"/>
            <a:ext cx="3200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*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7260" y="2852928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OOM训练失败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" y="3246120"/>
            <a:ext cx="23317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85D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训练过程中出现Out of Memory错误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" y="3520440"/>
            <a:ext cx="233172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减小batch_size；启用梯度累积；使用更大内存规格的资源；检查数据加载是否占用过多内存；使用混合精度训练减少显存占用。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68980" y="27432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78708" y="2852928"/>
            <a:ext cx="320040" cy="320040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30" name="Text 28"/>
          <p:cNvSpPr/>
          <p:nvPr/>
        </p:nvSpPr>
        <p:spPr>
          <a:xfrm>
            <a:off x="3378708" y="2852928"/>
            <a:ext cx="3200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71900" y="2852928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委托授权失败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06140" y="3246120"/>
            <a:ext cx="23317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85D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配置委托后仍提示权限不足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06140" y="3520440"/>
            <a:ext cx="233172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委托授权分区域操作，需在每个使用区域配置；权限不凌驾于其他服务，需同时配置OBS/SWR等依赖服务权限；检查工作空间权限是否覆盖。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03620" y="27432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3348" y="2852928"/>
            <a:ext cx="320040" cy="320040"/>
          </a:xfrm>
          <a:prstGeom prst="ellipse">
            <a:avLst/>
          </a:prstGeom>
          <a:solidFill>
            <a:srgbClr val="0A1628"/>
          </a:solidFill>
        </p:spPr>
      </p:sp>
      <p:sp>
        <p:nvSpPr>
          <p:cNvPr id="36" name="Text 34"/>
          <p:cNvSpPr/>
          <p:nvPr/>
        </p:nvSpPr>
        <p:spPr>
          <a:xfrm>
            <a:off x="6213348" y="2852928"/>
            <a:ext cx="3200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#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06540" y="2852928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资源池创建失败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40780" y="3246120"/>
            <a:ext cx="23317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85D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创建专属资源池时失败或卡在初始化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40780" y="3520440"/>
            <a:ext cx="233172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检查配额是否充足；确认网络配置正确；查看资源池事件日志；如终端节点服务配额不足需联系技术人员扩容。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0F1B2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培训总结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" cy="54864"/>
          </a:xfrm>
          <a:prstGeom prst="ellipse">
            <a:avLst/>
          </a:prstGeom>
          <a:solidFill>
            <a:srgbClr val="00C9A7"/>
          </a:solidFill>
        </p:spPr>
      </p:sp>
      <p:sp>
        <p:nvSpPr>
          <p:cNvPr id="4" name="Shape 2"/>
          <p:cNvSpPr/>
          <p:nvPr/>
        </p:nvSpPr>
        <p:spPr>
          <a:xfrm>
            <a:off x="43434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188720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6" name="Text 4"/>
          <p:cNvSpPr/>
          <p:nvPr/>
        </p:nvSpPr>
        <p:spPr>
          <a:xfrm>
            <a:off x="571500" y="1188720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8700" y="118872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全流程AI开发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1645920"/>
            <a:ext cx="23317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训推平台提供从数据准备、模型训练到推理部署的完整AI开发流程，支持多种AI框架和异构算力。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898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6140" y="1188720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1" name="Text 9"/>
          <p:cNvSpPr/>
          <p:nvPr/>
        </p:nvSpPr>
        <p:spPr>
          <a:xfrm>
            <a:off x="3406140" y="1188720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63340" y="118872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灵活资源管理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6140" y="1645920"/>
            <a:ext cx="23317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公共资源池快速验证，专属资源池保障生产。逻辑子池实现训练推理隔离。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0362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0780" y="1188720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16" name="Text 14"/>
          <p:cNvSpPr/>
          <p:nvPr/>
        </p:nvSpPr>
        <p:spPr>
          <a:xfrm>
            <a:off x="6240780" y="1188720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97980" y="118872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多种部署方式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0780" y="1645920"/>
            <a:ext cx="23317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在线服务与批量服务两种模式，新版推理提供企业级能力，满足不同业务场景需求。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4340" y="2606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1500" y="2743200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21" name="Text 19"/>
          <p:cNvSpPr/>
          <p:nvPr/>
        </p:nvSpPr>
        <p:spPr>
          <a:xfrm>
            <a:off x="571500" y="2743200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8700" y="274320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完善的权限体系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" y="3200400"/>
            <a:ext cx="23317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通过IAM权限、委托授权和工作空间三层机制，实现精细化的资源访问控制和安全隔离。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8980" y="2606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06140" y="2743200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26" name="Text 24"/>
          <p:cNvSpPr/>
          <p:nvPr/>
        </p:nvSpPr>
        <p:spPr>
          <a:xfrm>
            <a:off x="3406140" y="2743200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63340" y="274320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AI资产复用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06140" y="3200400"/>
            <a:ext cx="23317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Hub社区支持模型、算法、Workflow的发布与订阅，促进团队协作和资产复用。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03620" y="2606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40780" y="2743200"/>
            <a:ext cx="365760" cy="365760"/>
          </a:xfrm>
          <a:prstGeom prst="ellipse">
            <a:avLst/>
          </a:prstGeom>
          <a:solidFill>
            <a:srgbClr val="1A7A8C"/>
          </a:solidFill>
        </p:spPr>
      </p:sp>
      <p:sp>
        <p:nvSpPr>
          <p:cNvPr id="31" name="Text 29"/>
          <p:cNvSpPr/>
          <p:nvPr/>
        </p:nvSpPr>
        <p:spPr>
          <a:xfrm>
            <a:off x="6240780" y="2743200"/>
            <a:ext cx="3657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97980" y="274320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运维与排障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40780" y="3200400"/>
            <a:ext cx="23317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平台内置监控、日志查看、Cloud Shell调试等工具，帮助快速定位和解决训练部署中的问题。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0" y="4823460"/>
            <a:ext cx="36576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kern="0" spc="300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429000" y="2331720"/>
            <a:ext cx="2286000" cy="36576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5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00C9A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训推平台用户培训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广东省具身智能训练场建设项目（一期）信息系统集成项目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4508</Words>
  <Application>WPS 演示</Application>
  <PresentationFormat>On-screen Show (16:9)</PresentationFormat>
  <Paragraphs>695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0" baseType="lpstr">
      <vt:lpstr>Arial</vt:lpstr>
      <vt:lpstr>宋体</vt:lpstr>
      <vt:lpstr>Wingdings</vt:lpstr>
      <vt:lpstr>Noto Serif CJK SC</vt:lpstr>
      <vt:lpstr>苹方-简</vt:lpstr>
      <vt:lpstr>Noto Serif CJK SC</vt:lpstr>
      <vt:lpstr>Noto Serif CJK SC</vt:lpstr>
      <vt:lpstr>Noto Sans CJK SC</vt:lpstr>
      <vt:lpstr>Noto Sans CJK SC</vt:lpstr>
      <vt:lpstr>Noto Sans CJK SC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训推平台用户培训</dc:title>
  <dc:creator>训推平台</dc:creator>
  <dc:subject>PptxGenJS Presentation</dc:subject>
  <cp:lastModifiedBy>Catch-22</cp:lastModifiedBy>
  <cp:revision>5</cp:revision>
  <dcterms:created xsi:type="dcterms:W3CDTF">2026-08-24T08:35:21Z</dcterms:created>
  <dcterms:modified xsi:type="dcterms:W3CDTF">2026-08-24T08:35:21Z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71551BB10AE7737CECFB8B6A5FB07B52_42</vt:lpwstr>
  </property>
  <property fmtid="{D5CDD505-2E9C-101B-9397-08002B2CF9AE}" pid="3" name="KSOProductBuildVer">
    <vt:lpwstr>2052-12.1.25205.25205</vt:lpwstr>
  </property>
</Properties>
</file>